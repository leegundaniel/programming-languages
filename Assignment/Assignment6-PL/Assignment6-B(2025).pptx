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1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4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7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1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7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0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8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0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70547-6392-420A-8980-2D148320FFEF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B102B-1B7B-4C6F-963F-91B0739E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6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6PNEbc6Q20" TargetMode="External"/><Relationship Id="rId2" Type="http://schemas.openxmlformats.org/officeDocument/2006/relationships/hyperlink" Target="https://youtu.be/AqBxU-Zmx0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RgqZOuClaWQ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4-B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Read Chapter15 Appendix about the syntax of scheme functional programming, then answer the questions in the next slides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Extra YouTube videos </a:t>
            </a:r>
          </a:p>
          <a:p>
            <a:r>
              <a:rPr lang="en-US" sz="2400" dirty="0">
                <a:hlinkClick r:id="rId2"/>
              </a:rPr>
              <a:t>Introduction to Scheme</a:t>
            </a:r>
            <a:endParaRPr lang="en-US" sz="2400" dirty="0"/>
          </a:p>
          <a:p>
            <a:r>
              <a:rPr lang="en-US" sz="2400" dirty="0">
                <a:hlinkClick r:id="rId3"/>
              </a:rPr>
              <a:t>Lambdas functions and Conditionals</a:t>
            </a:r>
            <a:endParaRPr lang="en-US" sz="2400" dirty="0"/>
          </a:p>
          <a:p>
            <a:r>
              <a:rPr lang="en-US" sz="2400" dirty="0">
                <a:hlinkClick r:id="rId4"/>
              </a:rPr>
              <a:t>Abstraction</a:t>
            </a:r>
            <a:r>
              <a:rPr lang="en-US" sz="2400" dirty="0"/>
              <a:t> 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2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Q1. What does the following Scheme function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"/>
              </a:rPr>
              <a:t>(define (y s </a:t>
            </a:r>
            <a:r>
              <a:rPr lang="en-US" dirty="0" err="1">
                <a:latin typeface="Courier"/>
              </a:rPr>
              <a:t>lis</a:t>
            </a:r>
            <a:r>
              <a:rPr lang="en-US" dirty="0"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       (</a:t>
            </a:r>
            <a:r>
              <a:rPr lang="en-US" dirty="0" err="1">
                <a:latin typeface="Courier"/>
              </a:rPr>
              <a:t>cond</a:t>
            </a:r>
            <a:endParaRPr lang="en-US" dirty="0">
              <a:latin typeface="Courier"/>
            </a:endParaRPr>
          </a:p>
          <a:p>
            <a:pPr marL="0" indent="0">
              <a:buNone/>
            </a:pPr>
            <a:r>
              <a:rPr lang="en-US" dirty="0">
                <a:latin typeface="Courier"/>
              </a:rPr>
              <a:t>         ((null? </a:t>
            </a:r>
            <a:r>
              <a:rPr lang="en-US" dirty="0" err="1">
                <a:latin typeface="Courier"/>
              </a:rPr>
              <a:t>lis</a:t>
            </a:r>
            <a:r>
              <a:rPr lang="en-US" dirty="0">
                <a:latin typeface="Courier"/>
              </a:rPr>
              <a:t>) </a:t>
            </a:r>
            <a:r>
              <a:rPr lang="en-US" dirty="0">
                <a:latin typeface="Cambria" panose="02040503050406030204" pitchFamily="18" charset="0"/>
              </a:rPr>
              <a:t>‘</a:t>
            </a:r>
            <a:r>
              <a:rPr lang="en-US" dirty="0">
                <a:latin typeface="Courier"/>
              </a:rPr>
              <a:t>() )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	  ((equal? s (car </a:t>
            </a:r>
            <a:r>
              <a:rPr lang="en-US" dirty="0" err="1">
                <a:latin typeface="Courier"/>
              </a:rPr>
              <a:t>lis</a:t>
            </a:r>
            <a:r>
              <a:rPr lang="en-US" dirty="0">
                <a:latin typeface="Courier"/>
              </a:rPr>
              <a:t>)) </a:t>
            </a:r>
            <a:r>
              <a:rPr lang="en-US" dirty="0" err="1">
                <a:latin typeface="Courier"/>
              </a:rPr>
              <a:t>lis</a:t>
            </a:r>
            <a:r>
              <a:rPr lang="en-US" dirty="0"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         (else (y s (</a:t>
            </a:r>
            <a:r>
              <a:rPr lang="en-US" dirty="0" err="1">
                <a:latin typeface="Courier"/>
              </a:rPr>
              <a:t>cdr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lis</a:t>
            </a:r>
            <a:r>
              <a:rPr lang="en-US" dirty="0">
                <a:latin typeface="Courier"/>
              </a:rPr>
              <a:t>)))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3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Q2. What does the following Scheme function do?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04587"/>
            <a:ext cx="8229600" cy="3517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864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00FF"/>
                </a:solidFill>
              </a:rPr>
              <a:t>Q3. Change the following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The following function returns the number of zeros in a given simple list of numbers </a:t>
            </a:r>
          </a:p>
          <a:p>
            <a:pPr marL="0" indent="0">
              <a:buNone/>
            </a:pPr>
            <a:r>
              <a:rPr lang="en-US" sz="2400" dirty="0"/>
              <a:t>(define (</a:t>
            </a:r>
            <a:r>
              <a:rPr lang="en-US" sz="2400" dirty="0" err="1"/>
              <a:t>countZero</a:t>
            </a:r>
            <a:r>
              <a:rPr lang="en-US" sz="2400" dirty="0"/>
              <a:t> </a:t>
            </a:r>
            <a:r>
              <a:rPr lang="en-US" sz="2400" dirty="0" err="1"/>
              <a:t>aList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;; assume that </a:t>
            </a:r>
            <a:r>
              <a:rPr lang="en-US" sz="2400" dirty="0" err="1"/>
              <a:t>aList</a:t>
            </a:r>
            <a:r>
              <a:rPr lang="en-US" sz="2400" dirty="0"/>
              <a:t> is a list of numbers</a:t>
            </a:r>
          </a:p>
          <a:p>
            <a:pPr marL="0" indent="0">
              <a:buNone/>
            </a:pPr>
            <a:r>
              <a:rPr lang="en-US" sz="2400" dirty="0"/>
              <a:t>  (</a:t>
            </a:r>
            <a:r>
              <a:rPr lang="en-US" sz="2400" dirty="0" err="1"/>
              <a:t>cond</a:t>
            </a:r>
            <a:r>
              <a:rPr lang="en-US" sz="2400" dirty="0"/>
              <a:t> ( (null? </a:t>
            </a:r>
            <a:r>
              <a:rPr lang="en-US" sz="2400" dirty="0" err="1"/>
              <a:t>aList</a:t>
            </a:r>
            <a:r>
              <a:rPr lang="en-US" sz="2400" dirty="0"/>
              <a:t>) 0 )</a:t>
            </a:r>
          </a:p>
          <a:p>
            <a:pPr marL="0" indent="0">
              <a:buNone/>
            </a:pPr>
            <a:r>
              <a:rPr lang="en-US" sz="2400" dirty="0"/>
              <a:t>	( (</a:t>
            </a:r>
            <a:r>
              <a:rPr lang="en-US" sz="2400" dirty="0" err="1"/>
              <a:t>eq</a:t>
            </a:r>
            <a:r>
              <a:rPr lang="en-US" sz="2400" dirty="0"/>
              <a:t>? (car </a:t>
            </a:r>
            <a:r>
              <a:rPr lang="en-US" sz="2400" dirty="0" err="1"/>
              <a:t>aList</a:t>
            </a:r>
            <a:r>
              <a:rPr lang="en-US" sz="2400" dirty="0"/>
              <a:t>) 0) (+ 1 (</a:t>
            </a:r>
            <a:r>
              <a:rPr lang="en-US" sz="2400" dirty="0" err="1"/>
              <a:t>countZero</a:t>
            </a:r>
            <a:r>
              <a:rPr lang="en-US" sz="2400" dirty="0"/>
              <a:t> (</a:t>
            </a:r>
            <a:r>
              <a:rPr lang="en-US" sz="2400" dirty="0" err="1"/>
              <a:t>cdr</a:t>
            </a:r>
            <a:r>
              <a:rPr lang="en-US" sz="2400" dirty="0"/>
              <a:t> </a:t>
            </a:r>
            <a:r>
              <a:rPr lang="en-US" sz="2400" dirty="0" err="1"/>
              <a:t>aList</a:t>
            </a:r>
            <a:r>
              <a:rPr lang="en-US" sz="2400" dirty="0"/>
              <a:t>))))</a:t>
            </a:r>
          </a:p>
          <a:p>
            <a:pPr marL="0" indent="0">
              <a:buNone/>
            </a:pPr>
            <a:r>
              <a:rPr lang="en-US" sz="2400" dirty="0"/>
              <a:t>	( #t (</a:t>
            </a:r>
            <a:r>
              <a:rPr lang="en-US" sz="2400" dirty="0" err="1"/>
              <a:t>countZero</a:t>
            </a:r>
            <a:r>
              <a:rPr lang="en-US" sz="2400" dirty="0"/>
              <a:t> (</a:t>
            </a:r>
            <a:r>
              <a:rPr lang="en-US" sz="2400" dirty="0" err="1"/>
              <a:t>cdr</a:t>
            </a:r>
            <a:r>
              <a:rPr lang="en-US" sz="2400" dirty="0"/>
              <a:t> </a:t>
            </a:r>
            <a:r>
              <a:rPr lang="en-US" sz="2400" dirty="0" err="1"/>
              <a:t>aList</a:t>
            </a:r>
            <a:r>
              <a:rPr lang="en-US" sz="2400" dirty="0"/>
              <a:t>)))</a:t>
            </a:r>
          </a:p>
          <a:p>
            <a:pPr marL="0" indent="0">
              <a:buNone/>
            </a:pPr>
            <a:r>
              <a:rPr lang="en-US" sz="2400" dirty="0"/>
              <a:t>	)  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Change this function to make it return the number of element x in simple list.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For example: number of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in the list ‘(1 2 5 4 1 3 1) is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For example: number of </a:t>
            </a:r>
            <a:r>
              <a:rPr lang="en-US" sz="2400" b="1" dirty="0">
                <a:solidFill>
                  <a:srgbClr val="FF0000"/>
                </a:solidFill>
              </a:rPr>
              <a:t>4</a:t>
            </a: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in the list ‘(4 2 4 4 4 3 4 6 7) is </a:t>
            </a:r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20447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00FF"/>
                </a:solidFill>
              </a:rPr>
              <a:t>Q4. Write the following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Scheme function that takes a simple list of numbers as a parameter and returns a list with the largest and smallest numbers in the input list.</a:t>
            </a:r>
          </a:p>
          <a:p>
            <a:endParaRPr lang="en-US" dirty="0"/>
          </a:p>
          <a:p>
            <a:r>
              <a:rPr lang="en-US" dirty="0"/>
              <a:t>For example: the list ‘(1 2 5 4 1 3 1)  returns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</a:rPr>
              <a:t>‘(5 1)</a:t>
            </a:r>
          </a:p>
        </p:txBody>
      </p:sp>
    </p:spTree>
    <p:extLst>
      <p:ext uri="{BB962C8B-B14F-4D97-AF65-F5344CB8AC3E}">
        <p14:creationId xmlns:p14="http://schemas.microsoft.com/office/powerpoint/2010/main" val="10990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00FF"/>
                </a:solidFill>
              </a:rPr>
              <a:t>Q5. Write the following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Write a Scheme function that takes a list and an atom as parameters and returns a list identical to its parameter list except with all instances of the given atom deleted.</a:t>
            </a:r>
          </a:p>
          <a:p>
            <a:r>
              <a:rPr lang="en-US" dirty="0"/>
              <a:t>Assume the function name is </a:t>
            </a:r>
            <a:r>
              <a:rPr lang="en-US" dirty="0" err="1"/>
              <a:t>deleteatom</a:t>
            </a:r>
            <a:r>
              <a:rPr lang="en-US" dirty="0"/>
              <a:t>, then, you can use the function as follows:</a:t>
            </a:r>
          </a:p>
          <a:p>
            <a:pPr marL="0" indent="0">
              <a:buNone/>
            </a:pPr>
            <a:r>
              <a:rPr lang="en-US" dirty="0"/>
              <a:t>&gt;  (</a:t>
            </a:r>
            <a:r>
              <a:rPr lang="en-US" dirty="0" err="1">
                <a:solidFill>
                  <a:srgbClr val="0070C0"/>
                </a:solidFill>
              </a:rPr>
              <a:t>deleteatom</a:t>
            </a:r>
            <a:r>
              <a:rPr lang="en-US" dirty="0"/>
              <a:t> '2 '(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3 1 4 5 6 -1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7))  </a:t>
            </a:r>
          </a:p>
          <a:p>
            <a:pPr marL="0" indent="0">
              <a:buNone/>
            </a:pPr>
            <a:r>
              <a:rPr lang="en-US" dirty="0"/>
              <a:t>'(3 1 4 5 6 -1 7)</a:t>
            </a:r>
          </a:p>
          <a:p>
            <a:pPr marL="0" indent="0">
              <a:buNone/>
            </a:pPr>
            <a:r>
              <a:rPr lang="en-US" dirty="0"/>
              <a:t>&gt; </a:t>
            </a:r>
            <a:r>
              <a:rPr lang="pt-BR" dirty="0"/>
              <a:t>(</a:t>
            </a:r>
            <a:r>
              <a:rPr lang="pt-BR" dirty="0">
                <a:solidFill>
                  <a:srgbClr val="0070C0"/>
                </a:solidFill>
              </a:rPr>
              <a:t>deleteall</a:t>
            </a:r>
            <a:r>
              <a:rPr lang="pt-BR" dirty="0"/>
              <a:t> 'a '(a r f t a r c d a e)) </a:t>
            </a:r>
          </a:p>
          <a:p>
            <a:pPr marL="0" indent="0">
              <a:buNone/>
            </a:pPr>
            <a:r>
              <a:rPr lang="pt-BR" dirty="0"/>
              <a:t>'(r f t r c d e)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51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391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Courier</vt:lpstr>
      <vt:lpstr>Arial</vt:lpstr>
      <vt:lpstr>Calibri</vt:lpstr>
      <vt:lpstr>Cambria</vt:lpstr>
      <vt:lpstr>Office Theme</vt:lpstr>
      <vt:lpstr>Assignment 4-B</vt:lpstr>
      <vt:lpstr>Q1. What does the following Scheme function do?</vt:lpstr>
      <vt:lpstr>Q2. What does the following Scheme function do?</vt:lpstr>
      <vt:lpstr>Q3. Change the following function</vt:lpstr>
      <vt:lpstr>Q4. Write the following function</vt:lpstr>
      <vt:lpstr>Q5. Write the following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Reading/Assignment</dc:title>
  <dc:creator>user</dc:creator>
  <cp:lastModifiedBy>Tamer AbuHmed</cp:lastModifiedBy>
  <cp:revision>14</cp:revision>
  <dcterms:created xsi:type="dcterms:W3CDTF">2015-11-18T01:58:27Z</dcterms:created>
  <dcterms:modified xsi:type="dcterms:W3CDTF">2023-11-28T07:01:02Z</dcterms:modified>
</cp:coreProperties>
</file>